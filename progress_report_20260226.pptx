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JhengHei"/>
              </a:defRPr>
            </a:pPr>
            <a:r>
              <a:t>S60 &amp; M60 混凝土強度預測模型</a:t>
            </a:r>
          </a:p>
          <a:p>
            <a:r>
              <a:t>專案進度報告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66666"/>
                </a:solidFill>
                <a:latin typeface="Microsoft JhengHei"/>
              </a:defRPr>
            </a:pPr>
            <a:r>
              <a:t>報告日期: 2026-02-26</a:t>
            </a:r>
          </a:p>
          <a:p>
            <a:r>
              <a:t>專案成員: Steve Yu &amp; 開發團隊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JhengHei"/>
              </a:defRPr>
            </a:pPr>
            <a:r>
              <a:t>🎯 1. 專案目標與目前階段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Microsoft JhengHei"/>
              </a:defRPr>
            </a:pPr>
            <a:r>
              <a:t>建立 S60 與 M60 混凝土管的 28 天抗壓強度預測模型</a:t>
            </a:r>
          </a:p>
          <a:p>
            <a:pPr>
              <a:defRPr sz="2000">
                <a:latin typeface="Microsoft JhengHei"/>
              </a:defRPr>
            </a:pPr>
            <a:r>
              <a:t>目前進度: 特徵工程與模型迭代優化 (v5版本資料集)</a:t>
            </a:r>
          </a:p>
          <a:p>
            <a:pPr>
              <a:defRPr sz="2000">
                <a:latin typeface="Microsoft JhengHei"/>
              </a:defRPr>
            </a:pPr>
            <a:r>
              <a:t>核心目的:</a:t>
            </a:r>
          </a:p>
          <a:p>
            <a:pPr lvl="1">
              <a:defRPr sz="1800">
                <a:latin typeface="Microsoft JhengHei"/>
              </a:defRPr>
            </a:pPr>
            <a:r>
              <a:t>釐清特徵對於強度的具體影響</a:t>
            </a:r>
          </a:p>
          <a:p>
            <a:pPr lvl="1">
              <a:defRPr sz="1800">
                <a:latin typeface="Microsoft JhengHei"/>
              </a:defRPr>
            </a:pPr>
            <a:r>
              <a:t>找出提升 M60 模型準確率的關鍵動力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JhengHei"/>
              </a:defRPr>
            </a:pPr>
            <a:r>
              <a:t>🚀 2. 近期完成工作成果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Microsoft JhengHei"/>
              </a:defRPr>
            </a:pPr>
            <a:r>
              <a:t>資料集精煉與清洗:</a:t>
            </a:r>
          </a:p>
          <a:p>
            <a:pPr lvl="1">
              <a:defRPr sz="1800">
                <a:latin typeface="Microsoft JhengHei"/>
              </a:defRPr>
            </a:pPr>
            <a:r>
              <a:t>修正強度計算式 (改為 X1~X3 平均強度，提升穩定性)</a:t>
            </a:r>
          </a:p>
          <a:p>
            <a:pPr lvl="1">
              <a:defRPr sz="1800">
                <a:latin typeface="Microsoft JhengHei"/>
              </a:defRPr>
            </a:pPr>
            <a:r>
              <a:t>加入「坍度 (Slump)」作為新的品質指標</a:t>
            </a:r>
          </a:p>
          <a:p>
            <a:pPr>
              <a:defRPr sz="2000">
                <a:latin typeface="Microsoft JhengHei"/>
              </a:defRPr>
            </a:pPr>
            <a:r>
              <a:t>衍生特徵工程深度開發:</a:t>
            </a:r>
          </a:p>
          <a:p>
            <a:pPr lvl="1">
              <a:defRPr sz="1800">
                <a:latin typeface="Microsoft JhengHei"/>
              </a:defRPr>
            </a:pPr>
            <a:r>
              <a:t>新增基於物理意義的特徵 (水灰比, 水膠比, 砂石比, 總膠結料用量)</a:t>
            </a:r>
          </a:p>
          <a:p>
            <a:pPr lvl="1">
              <a:defRPr sz="1800">
                <a:latin typeface="Microsoft JhengHei"/>
              </a:defRPr>
            </a:pPr>
            <a:r>
              <a:t>說明: 這些特徵幫助模型理解「配比流變與物理特性」</a:t>
            </a:r>
          </a:p>
          <a:p>
            <a:pPr>
              <a:defRPr sz="2000">
                <a:latin typeface="Microsoft JhengHei"/>
              </a:defRPr>
            </a:pPr>
            <a:r>
              <a:t>特徵實驗與模型評估:</a:t>
            </a:r>
          </a:p>
          <a:p>
            <a:pPr lvl="1">
              <a:defRPr sz="1800">
                <a:latin typeface="Microsoft JhengHei"/>
              </a:defRPr>
            </a:pPr>
            <a:r>
              <a:t>執行包含完整特徵 (配料、藥劑、環境) 的訓練</a:t>
            </a:r>
          </a:p>
          <a:p>
            <a:pPr lvl="1">
              <a:defRPr sz="1800">
                <a:latin typeface="Microsoft JhengHei"/>
              </a:defRPr>
            </a:pPr>
            <a:r>
              <a:t>驗證輕量化模型 (移除藥劑)，確立核心特徵為骨材、粉料與溫濕度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JhengHei"/>
              </a:defRPr>
            </a:pPr>
            <a:r>
              <a:t>📈 3. 最新模型效能與評估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Microsoft JhengHei"/>
              </a:defRPr>
            </a:pPr>
            <a:r>
              <a:t>【S60 效能總結】</a:t>
            </a:r>
          </a:p>
          <a:p>
            <a:pPr lvl="1">
              <a:defRPr sz="1800">
                <a:latin typeface="Microsoft JhengHei"/>
              </a:defRPr>
            </a:pPr>
            <a:r>
              <a:t>樣本數: 46筆</a:t>
            </a:r>
          </a:p>
          <a:p>
            <a:pPr lvl="1">
              <a:defRPr sz="1800">
                <a:latin typeface="Microsoft JhengHei"/>
              </a:defRPr>
            </a:pPr>
            <a:r>
              <a:t>最佳模型: Lasso</a:t>
            </a:r>
          </a:p>
          <a:p>
            <a:pPr lvl="1">
              <a:defRPr sz="1800">
                <a:latin typeface="Microsoft JhengHei"/>
              </a:defRPr>
            </a:pPr>
            <a:r>
              <a:t>R² 決定係數: 0.457 / MAE: ~26 kgf/cm²</a:t>
            </a:r>
          </a:p>
          <a:p>
            <a:pPr lvl="1">
              <a:defRPr sz="1800">
                <a:latin typeface="Microsoft JhengHei"/>
              </a:defRPr>
            </a:pPr>
            <a:r>
              <a:t>狀態: 穩定良好，模型具備不錯的預測與解釋力</a:t>
            </a:r>
          </a:p>
          <a:p>
            <a:pPr>
              <a:defRPr sz="2000">
                <a:latin typeface="Microsoft JhengHei"/>
              </a:defRPr>
            </a:pPr>
          </a:p>
          <a:p>
            <a:pPr>
              <a:defRPr sz="2000">
                <a:latin typeface="Microsoft JhengHei"/>
              </a:defRPr>
            </a:pPr>
            <a:r>
              <a:t>【M60 效能總結】</a:t>
            </a:r>
          </a:p>
          <a:p>
            <a:pPr lvl="1">
              <a:defRPr sz="1800">
                <a:latin typeface="Microsoft JhengHei"/>
              </a:defRPr>
            </a:pPr>
            <a:r>
              <a:t>樣本數: 52筆</a:t>
            </a:r>
          </a:p>
          <a:p>
            <a:pPr lvl="1">
              <a:defRPr sz="1800">
                <a:latin typeface="Microsoft JhengHei"/>
              </a:defRPr>
            </a:pPr>
            <a:r>
              <a:t>最佳模型: Lasso</a:t>
            </a:r>
          </a:p>
          <a:p>
            <a:pPr lvl="1">
              <a:defRPr sz="1800">
                <a:latin typeface="Microsoft JhengHei"/>
              </a:defRPr>
            </a:pPr>
            <a:r>
              <a:t>R² 決定係數: 0.195 / MAE: ~25 kgf/cm²</a:t>
            </a:r>
          </a:p>
          <a:p>
            <a:pPr lvl="1">
              <a:defRPr sz="1800">
                <a:latin typeface="Microsoft JhengHei"/>
              </a:defRPr>
            </a:pPr>
            <a:r>
              <a:t>狀態: 持續突破中，從最初負相關進步到具備基礎預測力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JhengHei"/>
              </a:defRPr>
            </a:pPr>
            <a:r>
              <a:t>🔬 4. 關鍵因子分析解析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Microsoft JhengHei"/>
              </a:defRPr>
            </a:pPr>
            <a:r>
              <a:t>【S60 關鍵影響因子】（配方與環境主導）</a:t>
            </a:r>
          </a:p>
          <a:p>
            <a:pPr lvl="1">
              <a:defRPr sz="1800">
                <a:latin typeface="Microsoft JhengHei"/>
              </a:defRPr>
            </a:pPr>
            <a:r>
              <a:t>負向影響: 混凝土溫度、水、3分石及環境溫度</a:t>
            </a:r>
          </a:p>
          <a:p>
            <a:pPr lvl="1">
              <a:defRPr sz="1800">
                <a:latin typeface="Microsoft JhengHei"/>
              </a:defRPr>
            </a:pPr>
            <a:r>
              <a:t>正向影響: 爐石粉 (+23.33) 及 砂 (+19.34)</a:t>
            </a:r>
          </a:p>
          <a:p>
            <a:pPr lvl="1">
              <a:defRPr sz="1800">
                <a:latin typeface="Microsoft JhengHei"/>
              </a:defRPr>
            </a:pPr>
            <a:r>
              <a:t>結論: 爐石的添加對後期強度貢獻顯著，符合溫度及水量負影響常理</a:t>
            </a:r>
          </a:p>
          <a:p>
            <a:pPr>
              <a:defRPr sz="2000">
                <a:latin typeface="Microsoft JhengHei"/>
              </a:defRPr>
            </a:pPr>
          </a:p>
          <a:p>
            <a:pPr>
              <a:defRPr sz="2000">
                <a:latin typeface="Microsoft JhengHei"/>
              </a:defRPr>
            </a:pPr>
            <a:r>
              <a:t>【M60 關鍵影響因子】（特殊參料主導）</a:t>
            </a:r>
          </a:p>
          <a:p>
            <a:pPr lvl="1">
              <a:defRPr sz="1800">
                <a:latin typeface="Microsoft JhengHei"/>
              </a:defRPr>
            </a:pPr>
            <a:r>
              <a:t>絕對正向影響: 矽灰 (+30.73) 是提升 M60 強度的最強動力</a:t>
            </a:r>
          </a:p>
          <a:p>
            <a:pPr lvl="1">
              <a:defRPr sz="1800">
                <a:latin typeface="Microsoft JhengHei"/>
              </a:defRPr>
            </a:pPr>
            <a:r>
              <a:t>挑戰: M60 (6分石+矽灰) 配方複雜</a:t>
            </a:r>
          </a:p>
          <a:p>
            <a:pPr lvl="1">
              <a:defRPr sz="1800">
                <a:latin typeface="Microsoft JhengHei"/>
              </a:defRPr>
            </a:pPr>
            <a:r>
              <a:t>未來對策: 單靠靜態配方不足以預測，需導入實際生產時的「拌合機最終電流」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JhengHei"/>
              </a:defRPr>
            </a:pPr>
            <a:r>
              <a:t>📌 5. 下一步計畫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Microsoft JhengHei"/>
              </a:defRPr>
            </a:pPr>
            <a:r>
              <a:t>1. 整合預裝系統:</a:t>
            </a:r>
          </a:p>
          <a:p>
            <a:pPr lvl="1">
              <a:defRPr sz="1800">
                <a:latin typeface="Microsoft JhengHei"/>
              </a:defRPr>
            </a:pPr>
            <a:r>
              <a:t>封裝最佳模型 (v2版) 更新至監控儀表板 (Dashboard) 進行實地模擬</a:t>
            </a:r>
          </a:p>
          <a:p>
            <a:pPr>
              <a:defRPr sz="2000">
                <a:latin typeface="Microsoft JhengHei"/>
              </a:defRPr>
            </a:pPr>
            <a:r>
              <a:t>2. M60 強化策略:</a:t>
            </a:r>
          </a:p>
          <a:p>
            <a:pPr lvl="1">
              <a:defRPr sz="1800">
                <a:latin typeface="Microsoft JhengHei"/>
              </a:defRPr>
            </a:pPr>
            <a:r>
              <a:t>結合新衍生特徵 (水膠比) 與「拌合機即時電流參數」</a:t>
            </a:r>
          </a:p>
          <a:p>
            <a:pPr lvl="1">
              <a:defRPr sz="1800">
                <a:latin typeface="Microsoft JhengHei"/>
              </a:defRPr>
            </a:pPr>
            <a:r>
              <a:t>目標: 進一步拉升 M60 的 R² (期望突破 0.3)</a:t>
            </a:r>
          </a:p>
          <a:p>
            <a:pPr>
              <a:defRPr sz="2000">
                <a:latin typeface="Microsoft JhengHei"/>
              </a:defRPr>
            </a:pPr>
            <a:r>
              <a:t>3. 線上測試準備:</a:t>
            </a:r>
          </a:p>
          <a:p>
            <a:pPr lvl="1">
              <a:defRPr sz="1800">
                <a:latin typeface="Microsoft JhengHei"/>
              </a:defRPr>
            </a:pPr>
            <a:r>
              <a:t>將負面影響因子 (如: 混凝土高溫) 反饋給生產單位</a:t>
            </a:r>
          </a:p>
          <a:p>
            <a:pPr lvl="1">
              <a:defRPr sz="1800">
                <a:latin typeface="Microsoft JhengHei"/>
              </a:defRPr>
            </a:pPr>
            <a:r>
              <a:t>透過儀表板設立生產警示閥值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